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76" r:id="rId4"/>
    <p:sldId id="275" r:id="rId5"/>
    <p:sldId id="258" r:id="rId6"/>
    <p:sldId id="274" r:id="rId7"/>
    <p:sldId id="265" r:id="rId8"/>
    <p:sldId id="270" r:id="rId9"/>
    <p:sldId id="271" r:id="rId10"/>
    <p:sldId id="278" r:id="rId11"/>
    <p:sldId id="262" r:id="rId12"/>
    <p:sldId id="27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49" autoAdjust="0"/>
    <p:restoredTop sz="94660"/>
  </p:normalViewPr>
  <p:slideViewPr>
    <p:cSldViewPr snapToGrid="0">
      <p:cViewPr varScale="1">
        <p:scale>
          <a:sx n="91" d="100"/>
          <a:sy n="91" d="100"/>
        </p:scale>
        <p:origin x="81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y McMahon" userId="e1d31000-25d1-4ecd-93a1-c9ed1ac45998" providerId="ADAL" clId="{FD02768C-07A5-4097-A960-C33A70D8302D}"/>
    <pc:docChg chg="undo custSel addSld delSld modSld sldOrd">
      <pc:chgData name="Henry McMahon" userId="e1d31000-25d1-4ecd-93a1-c9ed1ac45998" providerId="ADAL" clId="{FD02768C-07A5-4097-A960-C33A70D8302D}" dt="2024-09-19T13:05:48.392" v="195" actId="6549"/>
      <pc:docMkLst>
        <pc:docMk/>
      </pc:docMkLst>
      <pc:sldChg chg="modSp mod ord">
        <pc:chgData name="Henry McMahon" userId="e1d31000-25d1-4ecd-93a1-c9ed1ac45998" providerId="ADAL" clId="{FD02768C-07A5-4097-A960-C33A70D8302D}" dt="2024-09-19T13:05:48.392" v="195" actId="6549"/>
        <pc:sldMkLst>
          <pc:docMk/>
          <pc:sldMk cId="510553867" sldId="257"/>
        </pc:sldMkLst>
        <pc:spChg chg="mod">
          <ac:chgData name="Henry McMahon" userId="e1d31000-25d1-4ecd-93a1-c9ed1ac45998" providerId="ADAL" clId="{FD02768C-07A5-4097-A960-C33A70D8302D}" dt="2024-09-19T13:05:44.158" v="183" actId="5793"/>
          <ac:spMkLst>
            <pc:docMk/>
            <pc:sldMk cId="510553867" sldId="257"/>
            <ac:spMk id="3" creationId="{6DE58918-06D7-A8E1-D09B-52E4EB8A8870}"/>
          </ac:spMkLst>
        </pc:spChg>
        <pc:spChg chg="mod">
          <ac:chgData name="Henry McMahon" userId="e1d31000-25d1-4ecd-93a1-c9ed1ac45998" providerId="ADAL" clId="{FD02768C-07A5-4097-A960-C33A70D8302D}" dt="2024-09-19T13:05:48.392" v="195" actId="6549"/>
          <ac:spMkLst>
            <pc:docMk/>
            <pc:sldMk cId="510553867" sldId="257"/>
            <ac:spMk id="4" creationId="{6E358204-751A-4EB8-83F7-3B84F38A4400}"/>
          </ac:spMkLst>
        </pc:spChg>
      </pc:sldChg>
      <pc:sldChg chg="modSp mod">
        <pc:chgData name="Henry McMahon" userId="e1d31000-25d1-4ecd-93a1-c9ed1ac45998" providerId="ADAL" clId="{FD02768C-07A5-4097-A960-C33A70D8302D}" dt="2024-09-17T19:29:45.897" v="146" actId="1076"/>
        <pc:sldMkLst>
          <pc:docMk/>
          <pc:sldMk cId="775299082" sldId="258"/>
        </pc:sldMkLst>
        <pc:spChg chg="mod">
          <ac:chgData name="Henry McMahon" userId="e1d31000-25d1-4ecd-93a1-c9ed1ac45998" providerId="ADAL" clId="{FD02768C-07A5-4097-A960-C33A70D8302D}" dt="2024-09-17T19:29:45.897" v="146" actId="1076"/>
          <ac:spMkLst>
            <pc:docMk/>
            <pc:sldMk cId="775299082" sldId="258"/>
            <ac:spMk id="4" creationId="{E7C6E54F-78BB-6251-368E-2B168521187E}"/>
          </ac:spMkLst>
        </pc:spChg>
      </pc:sldChg>
      <pc:sldChg chg="modSp mod">
        <pc:chgData name="Henry McMahon" userId="e1d31000-25d1-4ecd-93a1-c9ed1ac45998" providerId="ADAL" clId="{FD02768C-07A5-4097-A960-C33A70D8302D}" dt="2024-09-17T19:32:18.110" v="158" actId="404"/>
        <pc:sldMkLst>
          <pc:docMk/>
          <pc:sldMk cId="3590526940" sldId="265"/>
        </pc:sldMkLst>
        <pc:spChg chg="mod">
          <ac:chgData name="Henry McMahon" userId="e1d31000-25d1-4ecd-93a1-c9ed1ac45998" providerId="ADAL" clId="{FD02768C-07A5-4097-A960-C33A70D8302D}" dt="2024-09-17T19:32:18.110" v="158" actId="404"/>
          <ac:spMkLst>
            <pc:docMk/>
            <pc:sldMk cId="3590526940" sldId="265"/>
            <ac:spMk id="2" creationId="{754B8103-FE20-C517-D42E-BCF94D3B1B29}"/>
          </ac:spMkLst>
        </pc:spChg>
        <pc:spChg chg="mod">
          <ac:chgData name="Henry McMahon" userId="e1d31000-25d1-4ecd-93a1-c9ed1ac45998" providerId="ADAL" clId="{FD02768C-07A5-4097-A960-C33A70D8302D}" dt="2024-09-17T19:31:24.477" v="157" actId="20577"/>
          <ac:spMkLst>
            <pc:docMk/>
            <pc:sldMk cId="3590526940" sldId="265"/>
            <ac:spMk id="7" creationId="{C8160FCC-A033-63EA-F38C-3644A96A586C}"/>
          </ac:spMkLst>
        </pc:spChg>
      </pc:sldChg>
      <pc:sldChg chg="del">
        <pc:chgData name="Henry McMahon" userId="e1d31000-25d1-4ecd-93a1-c9ed1ac45998" providerId="ADAL" clId="{FD02768C-07A5-4097-A960-C33A70D8302D}" dt="2024-09-19T12:40:52.170" v="175" actId="47"/>
        <pc:sldMkLst>
          <pc:docMk/>
          <pc:sldMk cId="3945853997" sldId="269"/>
        </pc:sldMkLst>
      </pc:sldChg>
      <pc:sldChg chg="delSp mod">
        <pc:chgData name="Henry McMahon" userId="e1d31000-25d1-4ecd-93a1-c9ed1ac45998" providerId="ADAL" clId="{FD02768C-07A5-4097-A960-C33A70D8302D}" dt="2024-09-17T19:30:36.269" v="152" actId="478"/>
        <pc:sldMkLst>
          <pc:docMk/>
          <pc:sldMk cId="3365280233" sldId="273"/>
        </pc:sldMkLst>
        <pc:spChg chg="del">
          <ac:chgData name="Henry McMahon" userId="e1d31000-25d1-4ecd-93a1-c9ed1ac45998" providerId="ADAL" clId="{FD02768C-07A5-4097-A960-C33A70D8302D}" dt="2024-09-17T19:30:36.269" v="152" actId="478"/>
          <ac:spMkLst>
            <pc:docMk/>
            <pc:sldMk cId="3365280233" sldId="273"/>
            <ac:spMk id="3" creationId="{EBF26DFC-05DE-4C07-B3B3-BBE1919F0655}"/>
          </ac:spMkLst>
        </pc:spChg>
      </pc:sldChg>
      <pc:sldChg chg="modSp mod ord">
        <pc:chgData name="Henry McMahon" userId="e1d31000-25d1-4ecd-93a1-c9ed1ac45998" providerId="ADAL" clId="{FD02768C-07A5-4097-A960-C33A70D8302D}" dt="2024-09-17T19:31:01.913" v="156" actId="20577"/>
        <pc:sldMkLst>
          <pc:docMk/>
          <pc:sldMk cId="370753678" sldId="275"/>
        </pc:sldMkLst>
        <pc:spChg chg="mod">
          <ac:chgData name="Henry McMahon" userId="e1d31000-25d1-4ecd-93a1-c9ed1ac45998" providerId="ADAL" clId="{FD02768C-07A5-4097-A960-C33A70D8302D}" dt="2024-09-17T19:31:01.913" v="156" actId="20577"/>
          <ac:spMkLst>
            <pc:docMk/>
            <pc:sldMk cId="370753678" sldId="275"/>
            <ac:spMk id="3" creationId="{6049302D-ADE7-2D63-670B-AAE0CD76723E}"/>
          </ac:spMkLst>
        </pc:spChg>
      </pc:sldChg>
      <pc:sldChg chg="modSp mod ord">
        <pc:chgData name="Henry McMahon" userId="e1d31000-25d1-4ecd-93a1-c9ed1ac45998" providerId="ADAL" clId="{FD02768C-07A5-4097-A960-C33A70D8302D}" dt="2024-09-17T19:33:16.734" v="162" actId="20577"/>
        <pc:sldMkLst>
          <pc:docMk/>
          <pc:sldMk cId="1434106783" sldId="276"/>
        </pc:sldMkLst>
        <pc:spChg chg="mod">
          <ac:chgData name="Henry McMahon" userId="e1d31000-25d1-4ecd-93a1-c9ed1ac45998" providerId="ADAL" clId="{FD02768C-07A5-4097-A960-C33A70D8302D}" dt="2024-09-17T19:33:16.734" v="162" actId="20577"/>
          <ac:spMkLst>
            <pc:docMk/>
            <pc:sldMk cId="1434106783" sldId="276"/>
            <ac:spMk id="3" creationId="{2A77D97B-A101-A647-CF0B-6CA4A3595D8B}"/>
          </ac:spMkLst>
        </pc:spChg>
      </pc:sldChg>
      <pc:sldChg chg="del">
        <pc:chgData name="Henry McMahon" userId="e1d31000-25d1-4ecd-93a1-c9ed1ac45998" providerId="ADAL" clId="{FD02768C-07A5-4097-A960-C33A70D8302D}" dt="2024-09-15T15:29:02.711" v="129" actId="47"/>
        <pc:sldMkLst>
          <pc:docMk/>
          <pc:sldMk cId="529132346" sldId="277"/>
        </pc:sldMkLst>
      </pc:sldChg>
      <pc:sldChg chg="addSp delSp modSp mod">
        <pc:chgData name="Henry McMahon" userId="e1d31000-25d1-4ecd-93a1-c9ed1ac45998" providerId="ADAL" clId="{FD02768C-07A5-4097-A960-C33A70D8302D}" dt="2024-09-17T19:34:38.092" v="174" actId="20577"/>
        <pc:sldMkLst>
          <pc:docMk/>
          <pc:sldMk cId="249898884" sldId="278"/>
        </pc:sldMkLst>
        <pc:spChg chg="mod">
          <ac:chgData name="Henry McMahon" userId="e1d31000-25d1-4ecd-93a1-c9ed1ac45998" providerId="ADAL" clId="{FD02768C-07A5-4097-A960-C33A70D8302D}" dt="2024-09-17T19:34:38.092" v="174" actId="20577"/>
          <ac:spMkLst>
            <pc:docMk/>
            <pc:sldMk cId="249898884" sldId="278"/>
            <ac:spMk id="7" creationId="{5BDC391E-9C0B-40C6-22D7-E0B5150C6A2B}"/>
          </ac:spMkLst>
        </pc:spChg>
        <pc:picChg chg="del">
          <ac:chgData name="Henry McMahon" userId="e1d31000-25d1-4ecd-93a1-c9ed1ac45998" providerId="ADAL" clId="{FD02768C-07A5-4097-A960-C33A70D8302D}" dt="2024-09-15T15:23:37.778" v="0" actId="478"/>
          <ac:picMkLst>
            <pc:docMk/>
            <pc:sldMk cId="249898884" sldId="278"/>
            <ac:picMk id="4" creationId="{A81DF87E-5B51-84B0-8A12-D9E5C1571E6B}"/>
          </ac:picMkLst>
        </pc:picChg>
        <pc:picChg chg="add mod modCrop">
          <ac:chgData name="Henry McMahon" userId="e1d31000-25d1-4ecd-93a1-c9ed1ac45998" providerId="ADAL" clId="{FD02768C-07A5-4097-A960-C33A70D8302D}" dt="2024-09-15T15:28:56.777" v="128" actId="1076"/>
          <ac:picMkLst>
            <pc:docMk/>
            <pc:sldMk cId="249898884" sldId="278"/>
            <ac:picMk id="5" creationId="{5FD8015E-ACF0-51B4-C59F-DFBCB12CEAA4}"/>
          </ac:picMkLst>
        </pc:picChg>
      </pc:sldChg>
      <pc:sldChg chg="modSp new del mod">
        <pc:chgData name="Henry McMahon" userId="e1d31000-25d1-4ecd-93a1-c9ed1ac45998" providerId="ADAL" clId="{FD02768C-07A5-4097-A960-C33A70D8302D}" dt="2024-09-15T15:29:52.314" v="130" actId="47"/>
        <pc:sldMkLst>
          <pc:docMk/>
          <pc:sldMk cId="3694973728" sldId="279"/>
        </pc:sldMkLst>
        <pc:spChg chg="mod">
          <ac:chgData name="Henry McMahon" userId="e1d31000-25d1-4ecd-93a1-c9ed1ac45998" providerId="ADAL" clId="{FD02768C-07A5-4097-A960-C33A70D8302D}" dt="2024-09-15T15:26:24.498" v="10" actId="14100"/>
          <ac:spMkLst>
            <pc:docMk/>
            <pc:sldMk cId="3694973728" sldId="279"/>
            <ac:spMk id="2" creationId="{4AB637F5-A273-044F-5CFE-EBEF90AEE42D}"/>
          </ac:spMkLst>
        </pc:spChg>
        <pc:spChg chg="mod">
          <ac:chgData name="Henry McMahon" userId="e1d31000-25d1-4ecd-93a1-c9ed1ac45998" providerId="ADAL" clId="{FD02768C-07A5-4097-A960-C33A70D8302D}" dt="2024-09-15T15:27:32.751" v="108" actId="20577"/>
          <ac:spMkLst>
            <pc:docMk/>
            <pc:sldMk cId="3694973728" sldId="279"/>
            <ac:spMk id="3" creationId="{00C06437-A313-549C-76D0-78C4BE71C1D1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ADCC0F1A-A200-445C-ABA2-82B2364C9DDC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D564A1AB-F442-4CE1-8156-D589BA39FB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4998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C0F1A-A200-445C-ABA2-82B2364C9DDC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4A1AB-F442-4CE1-8156-D589BA39FB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8257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C0F1A-A200-445C-ABA2-82B2364C9DDC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4A1AB-F442-4CE1-8156-D589BA39FB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7601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C0F1A-A200-445C-ABA2-82B2364C9DDC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4A1AB-F442-4CE1-8156-D589BA39FB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7716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C0F1A-A200-445C-ABA2-82B2364C9DDC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4A1AB-F442-4CE1-8156-D589BA39FB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5797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C0F1A-A200-445C-ABA2-82B2364C9DDC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4A1AB-F442-4CE1-8156-D589BA39FB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0404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C0F1A-A200-445C-ABA2-82B2364C9DDC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4A1AB-F442-4CE1-8156-D589BA39FB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9875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C0F1A-A200-445C-ABA2-82B2364C9DDC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4A1AB-F442-4CE1-8156-D589BA39FB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6328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C0F1A-A200-445C-ABA2-82B2364C9DDC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4A1AB-F442-4CE1-8156-D589BA39FB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4531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C0F1A-A200-445C-ABA2-82B2364C9DDC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4A1AB-F442-4CE1-8156-D589BA39FB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7943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C0F1A-A200-445C-ABA2-82B2364C9DDC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4A1AB-F442-4CE1-8156-D589BA39FB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9072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C0F1A-A200-445C-ABA2-82B2364C9DDC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4A1AB-F442-4CE1-8156-D589BA39FBB9}" type="slidenum">
              <a:rPr lang="en-GB" smtClean="0"/>
              <a:t>‹#›</a:t>
            </a:fld>
            <a:endParaRPr lang="en-GB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168045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C0F1A-A200-445C-ABA2-82B2364C9DDC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4A1AB-F442-4CE1-8156-D589BA39FB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3865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C0F1A-A200-445C-ABA2-82B2364C9DDC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4A1AB-F442-4CE1-8156-D589BA39FB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82715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C0F1A-A200-445C-ABA2-82B2364C9DDC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4A1AB-F442-4CE1-8156-D589BA39FB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39203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C0F1A-A200-445C-ABA2-82B2364C9DDC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4A1AB-F442-4CE1-8156-D589BA39FB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60975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C0F1A-A200-445C-ABA2-82B2364C9DDC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4A1AB-F442-4CE1-8156-D589BA39FB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44399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CC0F1A-A200-445C-ABA2-82B2364C9DDC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64A1AB-F442-4CE1-8156-D589BA39FB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58705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jpe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jpe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720B1-067E-258B-3E55-A5C3DBD5E3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br>
              <a:rPr lang="en-GB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GB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extended project qualification:</a:t>
            </a:r>
            <a:br>
              <a:rPr lang="en-GB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en-GB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GB" sz="24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Artificial Intelligence, the ethical challenges that it presents and how Governments have and should approach its regulation?</a:t>
            </a:r>
            <a:endParaRPr lang="en-GB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AB1766-DAF6-64B0-8FED-38CA5D1FD3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By Henry McMahon</a:t>
            </a:r>
          </a:p>
          <a:p>
            <a:r>
              <a:rPr lang="en-GB" dirty="0"/>
              <a:t>Candidate number:</a:t>
            </a:r>
          </a:p>
          <a:p>
            <a:r>
              <a:rPr lang="en-GB" dirty="0"/>
              <a:t>Centre number:</a:t>
            </a:r>
          </a:p>
        </p:txBody>
      </p:sp>
    </p:spTree>
    <p:extLst>
      <p:ext uri="{BB962C8B-B14F-4D97-AF65-F5344CB8AC3E}">
        <p14:creationId xmlns:p14="http://schemas.microsoft.com/office/powerpoint/2010/main" val="422204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0A827-BC2E-1AFC-27BE-85F5D7F51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What I will cover: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58918-06D7-A8E1-D09B-52E4EB8A8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7"/>
            <a:ext cx="4954588" cy="3541714"/>
          </a:xfrm>
        </p:spPr>
        <p:txBody>
          <a:bodyPr>
            <a:normAutofit/>
          </a:bodyPr>
          <a:lstStyle/>
          <a:p>
            <a:r>
              <a:rPr lang="en-GB" dirty="0"/>
              <a:t>Aims and objectives</a:t>
            </a:r>
          </a:p>
          <a:p>
            <a:r>
              <a:rPr lang="en-GB" dirty="0"/>
              <a:t>Why I chose this subject</a:t>
            </a:r>
          </a:p>
          <a:p>
            <a:r>
              <a:rPr lang="en-GB" dirty="0"/>
              <a:t>My question </a:t>
            </a:r>
          </a:p>
          <a:p>
            <a:r>
              <a:rPr lang="en-GB" dirty="0"/>
              <a:t>Key areas covered and their sources</a:t>
            </a:r>
          </a:p>
          <a:p>
            <a:r>
              <a:rPr lang="en-GB" dirty="0"/>
              <a:t>Conclusion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E358204-751A-4EB8-83F7-3B84F38A4400}"/>
              </a:ext>
            </a:extLst>
          </p:cNvPr>
          <p:cNvSpPr txBox="1">
            <a:spLocks/>
          </p:cNvSpPr>
          <p:nvPr/>
        </p:nvSpPr>
        <p:spPr>
          <a:xfrm>
            <a:off x="6092823" y="2249487"/>
            <a:ext cx="4954588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Did I fulfil my aim?</a:t>
            </a:r>
          </a:p>
          <a:p>
            <a:r>
              <a:rPr lang="en-GB" dirty="0"/>
              <a:t>What I learnt during my EPQ</a:t>
            </a:r>
          </a:p>
          <a:p>
            <a:r>
              <a:rPr lang="en-GB" dirty="0"/>
              <a:t>What I will do differently next time</a:t>
            </a:r>
          </a:p>
          <a:p>
            <a:r>
              <a:rPr lang="en-GB" dirty="0"/>
              <a:t>How does this EPQ impact my future</a:t>
            </a:r>
          </a:p>
        </p:txBody>
      </p:sp>
    </p:spTree>
    <p:extLst>
      <p:ext uri="{BB962C8B-B14F-4D97-AF65-F5344CB8AC3E}">
        <p14:creationId xmlns:p14="http://schemas.microsoft.com/office/powerpoint/2010/main" val="510553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397E0-ABA7-3A29-C3EF-5495BB313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/>
              <a:t>Aim</a:t>
            </a:r>
            <a:r>
              <a:rPr lang="en-GB" b="1" dirty="0"/>
              <a:t>s and objectives: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7D97B-A101-A647-CF0B-6CA4A3595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To write a 5,000-word essay on AI, its ethics and its regulation </a:t>
            </a:r>
          </a:p>
          <a:p>
            <a:r>
              <a:rPr lang="en-GB" dirty="0"/>
              <a:t>To use various sources that show all sides to the story, so my arguments are detailed, fair and balanced</a:t>
            </a:r>
          </a:p>
          <a:p>
            <a:r>
              <a:rPr lang="en-GB" dirty="0"/>
              <a:t>To develop my project, essay and research skills</a:t>
            </a:r>
          </a:p>
          <a:p>
            <a:r>
              <a:rPr lang="en-GB" dirty="0"/>
              <a:t>To broaden my knowledge of AI and regulation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4106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6EAD4-261D-A20D-AD93-A13F59E24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/>
              <a:t>Why I chose this subject: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9302D-ADE7-2D63-670B-AAE0CD767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It is very relevant to my education</a:t>
            </a:r>
          </a:p>
          <a:p>
            <a:r>
              <a:rPr lang="en-GB" dirty="0"/>
              <a:t>The variety of arguments and viewpoints</a:t>
            </a:r>
          </a:p>
          <a:p>
            <a:r>
              <a:rPr lang="en-GB" dirty="0"/>
              <a:t>It is a recurrent theme in the media</a:t>
            </a:r>
          </a:p>
          <a:p>
            <a:r>
              <a:rPr lang="en-GB" dirty="0"/>
              <a:t>Its ever-increasing rate of development and growth</a:t>
            </a:r>
          </a:p>
          <a:p>
            <a:r>
              <a:rPr lang="en-GB" sz="2400" dirty="0"/>
              <a:t>Ethical concerns from consumers and developers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0753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C6E54F-78BB-6251-368E-2B168521187E}"/>
              </a:ext>
            </a:extLst>
          </p:cNvPr>
          <p:cNvSpPr txBox="1"/>
          <p:nvPr/>
        </p:nvSpPr>
        <p:spPr>
          <a:xfrm>
            <a:off x="1302488" y="1169588"/>
            <a:ext cx="940627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GB" sz="3200" b="1" dirty="0">
                <a:latin typeface="+mj-lt"/>
                <a:ea typeface="+mj-ea"/>
                <a:cs typeface="+mj-cs"/>
              </a:rPr>
              <a:t>Artificial Intelligence, the ethical challenges that it presents and how Governments have and should approach its regulation?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62703DE-9242-27E3-90EE-5DB31FB0F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8559802"/>
              </p:ext>
            </p:extLst>
          </p:nvPr>
        </p:nvGraphicFramePr>
        <p:xfrm>
          <a:off x="817821" y="3057002"/>
          <a:ext cx="10375604" cy="2918498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5187802">
                  <a:extLst>
                    <a:ext uri="{9D8B030D-6E8A-4147-A177-3AD203B41FA5}">
                      <a16:colId xmlns:a16="http://schemas.microsoft.com/office/drawing/2014/main" val="2688578460"/>
                    </a:ext>
                  </a:extLst>
                </a:gridCol>
                <a:gridCol w="5187802">
                  <a:extLst>
                    <a:ext uri="{9D8B030D-6E8A-4147-A177-3AD203B41FA5}">
                      <a16:colId xmlns:a16="http://schemas.microsoft.com/office/drawing/2014/main" val="665013338"/>
                    </a:ext>
                  </a:extLst>
                </a:gridCol>
              </a:tblGrid>
              <a:tr h="593551">
                <a:tc>
                  <a:txBody>
                    <a:bodyPr/>
                    <a:lstStyle/>
                    <a:p>
                      <a:r>
                        <a:rPr lang="en-GB" sz="1800" kern="100" dirty="0">
                          <a:effectLst/>
                        </a:rPr>
                        <a:t>Question breakdown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Associated questions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900541"/>
                  </a:ext>
                </a:extLst>
              </a:tr>
              <a:tr h="5935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kern="100" dirty="0">
                          <a:effectLst/>
                        </a:rPr>
                        <a:t>Artificial Intelligence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kern="100" dirty="0">
                          <a:effectLst/>
                        </a:rPr>
                        <a:t>What is AI, and what does it do?</a:t>
                      </a:r>
                      <a:endParaRPr lang="en-GB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3777403"/>
                  </a:ext>
                </a:extLst>
              </a:tr>
              <a:tr h="692681">
                <a:tc>
                  <a:txBody>
                    <a:bodyPr/>
                    <a:lstStyle/>
                    <a:p>
                      <a:r>
                        <a:rPr lang="en-GB" sz="1800" kern="100" dirty="0">
                          <a:effectLst/>
                        </a:rPr>
                        <a:t>The ethical challenges that it presents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kern="100" dirty="0">
                          <a:effectLst/>
                        </a:rPr>
                        <a:t>How can artificial intelligence be unethical?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8528135"/>
                  </a:ext>
                </a:extLst>
              </a:tr>
              <a:tr h="1038715">
                <a:tc>
                  <a:txBody>
                    <a:bodyPr/>
                    <a:lstStyle/>
                    <a:p>
                      <a:r>
                        <a:rPr lang="en-GB" sz="1800" kern="100" dirty="0">
                          <a:effectLst/>
                        </a:rPr>
                        <a:t>How Governments have and should approach its regulation?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kern="100" dirty="0">
                          <a:effectLst/>
                        </a:rPr>
                        <a:t>What have governments already done to regulate it, and how should they regulate it in the future?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4323123"/>
                  </a:ext>
                </a:extLst>
              </a:tr>
            </a:tbl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C953AC20-C4A7-EA20-B5D2-888F1C742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704" y="3713"/>
            <a:ext cx="9905998" cy="1478570"/>
          </a:xfrm>
        </p:spPr>
        <p:txBody>
          <a:bodyPr>
            <a:normAutofit/>
          </a:bodyPr>
          <a:lstStyle/>
          <a:p>
            <a:r>
              <a:rPr lang="en-GB" sz="3600" b="1" dirty="0"/>
              <a:t>My question:</a:t>
            </a:r>
          </a:p>
        </p:txBody>
      </p:sp>
    </p:spTree>
    <p:extLst>
      <p:ext uri="{BB962C8B-B14F-4D97-AF65-F5344CB8AC3E}">
        <p14:creationId xmlns:p14="http://schemas.microsoft.com/office/powerpoint/2010/main" val="775299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421A8-C3BC-AE9F-EDC5-6324D7AA6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Key areas covered and their sources: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EDD8D61-D52C-BA5D-124C-EA98CAD341DD}"/>
              </a:ext>
            </a:extLst>
          </p:cNvPr>
          <p:cNvSpPr txBox="1">
            <a:spLocks/>
          </p:cNvSpPr>
          <p:nvPr/>
        </p:nvSpPr>
        <p:spPr>
          <a:xfrm>
            <a:off x="721244" y="1737390"/>
            <a:ext cx="3377609" cy="43513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The different ‘types’ of AI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97A6FBC-261B-B4A3-5513-E7A37D35A116}"/>
              </a:ext>
            </a:extLst>
          </p:cNvPr>
          <p:cNvSpPr txBox="1">
            <a:spLocks/>
          </p:cNvSpPr>
          <p:nvPr/>
        </p:nvSpPr>
        <p:spPr>
          <a:xfrm>
            <a:off x="8097571" y="1735949"/>
            <a:ext cx="3377610" cy="43513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Case studies UK and EU</a:t>
            </a:r>
          </a:p>
        </p:txBody>
      </p:sp>
      <p:pic>
        <p:nvPicPr>
          <p:cNvPr id="7" name="Picture 2" descr="Nesta | Innovation Growth Lab">
            <a:extLst>
              <a:ext uri="{FF2B5EF4-FFF2-40B4-BE49-F238E27FC236}">
                <a16:creationId xmlns:a16="http://schemas.microsoft.com/office/drawing/2014/main" id="{C968BA5D-D3BC-F47E-09E0-B678AB41E0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3348" y="4320901"/>
            <a:ext cx="2872563" cy="135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IBM | UNESCO">
            <a:extLst>
              <a:ext uri="{FF2B5EF4-FFF2-40B4-BE49-F238E27FC236}">
                <a16:creationId xmlns:a16="http://schemas.microsoft.com/office/drawing/2014/main" id="{5DED5B06-F396-B794-427F-85164C97A6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10" b="19622"/>
          <a:stretch/>
        </p:blipFill>
        <p:spPr bwMode="auto">
          <a:xfrm>
            <a:off x="1557736" y="2217478"/>
            <a:ext cx="2394099" cy="993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Cambridge Dictionary | English ...">
            <a:extLst>
              <a:ext uri="{FF2B5EF4-FFF2-40B4-BE49-F238E27FC236}">
                <a16:creationId xmlns:a16="http://schemas.microsoft.com/office/drawing/2014/main" id="{12CD8D11-0D9B-08F3-A6D6-71B27275C1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8812" y="4310063"/>
            <a:ext cx="1727462" cy="1727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 descr="BBC News - YouTube">
            <a:extLst>
              <a:ext uri="{FF2B5EF4-FFF2-40B4-BE49-F238E27FC236}">
                <a16:creationId xmlns:a16="http://schemas.microsoft.com/office/drawing/2014/main" id="{E6215D43-C6D1-0040-0FF8-AA3B5F5373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6280" y="2669935"/>
            <a:ext cx="1518129" cy="1518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NBC News - Wikipedia">
            <a:extLst>
              <a:ext uri="{FF2B5EF4-FFF2-40B4-BE49-F238E27FC236}">
                <a16:creationId xmlns:a16="http://schemas.microsoft.com/office/drawing/2014/main" id="{D857BFEC-6958-2D1D-5FC4-AE34D683A5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9820" y="2777811"/>
            <a:ext cx="1492460" cy="1133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2" descr="DigitalOcean - Wikipedia">
            <a:extLst>
              <a:ext uri="{FF2B5EF4-FFF2-40B4-BE49-F238E27FC236}">
                <a16:creationId xmlns:a16="http://schemas.microsoft.com/office/drawing/2014/main" id="{9EBC2F53-D1AB-CB42-8C0F-687BB7BF7C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411" y="3167039"/>
            <a:ext cx="1570100" cy="157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4" descr="GOV.UK (@GOVUK) / X">
            <a:extLst>
              <a:ext uri="{FF2B5EF4-FFF2-40B4-BE49-F238E27FC236}">
                <a16:creationId xmlns:a16="http://schemas.microsoft.com/office/drawing/2014/main" id="{EE70FBBA-F999-D317-A326-750EE0C59E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3002" y="4540016"/>
            <a:ext cx="1284100" cy="128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8" descr="The EU AI Act: What You Need to Know ...">
            <a:extLst>
              <a:ext uri="{FF2B5EF4-FFF2-40B4-BE49-F238E27FC236}">
                <a16:creationId xmlns:a16="http://schemas.microsoft.com/office/drawing/2014/main" id="{95A91F0E-EA28-F7C3-7678-1ECAFE4244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910" b="20166"/>
          <a:stretch/>
        </p:blipFill>
        <p:spPr bwMode="auto">
          <a:xfrm>
            <a:off x="8319526" y="2353616"/>
            <a:ext cx="2933700" cy="701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0" descr="Goldman Sachs - Simple English ...">
            <a:extLst>
              <a:ext uri="{FF2B5EF4-FFF2-40B4-BE49-F238E27FC236}">
                <a16:creationId xmlns:a16="http://schemas.microsoft.com/office/drawing/2014/main" id="{605F5109-53FA-4603-7DAF-43F68ED9EF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5539" y="4540016"/>
            <a:ext cx="1284100" cy="128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2" descr="Download Centre | European Parliament">
            <a:extLst>
              <a:ext uri="{FF2B5EF4-FFF2-40B4-BE49-F238E27FC236}">
                <a16:creationId xmlns:a16="http://schemas.microsoft.com/office/drawing/2014/main" id="{4EF012EF-17D1-2970-F9BA-3C319FA4A8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0127" y="3296443"/>
            <a:ext cx="2769850" cy="1002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CC6C2F3C-660A-0F5D-1856-34278745117D}"/>
              </a:ext>
            </a:extLst>
          </p:cNvPr>
          <p:cNvSpPr txBox="1">
            <a:spLocks/>
          </p:cNvSpPr>
          <p:nvPr/>
        </p:nvSpPr>
        <p:spPr>
          <a:xfrm>
            <a:off x="4101853" y="1735949"/>
            <a:ext cx="3991296" cy="43513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Ethical concerns for consumers and developers</a:t>
            </a:r>
          </a:p>
        </p:txBody>
      </p:sp>
    </p:spTree>
    <p:extLst>
      <p:ext uri="{BB962C8B-B14F-4D97-AF65-F5344CB8AC3E}">
        <p14:creationId xmlns:p14="http://schemas.microsoft.com/office/powerpoint/2010/main" val="838077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B8103-FE20-C517-D42E-BCF94D3B1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Conclusion:</a:t>
            </a:r>
            <a:endParaRPr lang="en-GB" sz="4000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8160FCC-A033-63EA-F38C-3644A96A5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198" y="1723175"/>
            <a:ext cx="9905999" cy="3541714"/>
          </a:xfrm>
        </p:spPr>
        <p:txBody>
          <a:bodyPr>
            <a:normAutofit/>
          </a:bodyPr>
          <a:lstStyle/>
          <a:p>
            <a:r>
              <a:rPr lang="en-GB" dirty="0"/>
              <a:t>Long term, regulation will increase consumer trust and adoption of AI</a:t>
            </a:r>
          </a:p>
          <a:p>
            <a:pPr fontAlgn="t">
              <a:spcAft>
                <a:spcPts val="0"/>
              </a:spcAft>
            </a:pPr>
            <a:r>
              <a:rPr lang="en-GB" dirty="0"/>
              <a:t>Regulations are needed to make sure fundamental rights are not overstepped</a:t>
            </a:r>
          </a:p>
          <a:p>
            <a:pPr fontAlgn="t">
              <a:spcAft>
                <a:spcPts val="0"/>
              </a:spcAft>
            </a:pPr>
            <a:r>
              <a:rPr lang="en-GB" dirty="0"/>
              <a:t>By regulating now, we can study the difference it makes and conclude the best next steps</a:t>
            </a:r>
          </a:p>
          <a:p>
            <a:pPr fontAlgn="t">
              <a:spcAft>
                <a:spcPts val="0"/>
              </a:spcAft>
            </a:pPr>
            <a:r>
              <a:rPr lang="en-GB" dirty="0"/>
              <a:t>It must be controlled by guidelines and regulations to ensure that the correct kind of growth is promoted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0526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7D6C4-9604-8F9B-060F-847003C79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Did I fulfil my aim?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2BAD3-B482-5631-78F9-79C770206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Yes, I did achieve my aim of writing a 5000-word essay</a:t>
            </a:r>
          </a:p>
          <a:p>
            <a:r>
              <a:rPr lang="en-GB" dirty="0"/>
              <a:t>Yes, I did research and use sources for all sides of the argument</a:t>
            </a:r>
          </a:p>
          <a:p>
            <a:r>
              <a:rPr lang="en-GB" dirty="0"/>
              <a:t>I have developed my essay and research skills  </a:t>
            </a:r>
          </a:p>
          <a:p>
            <a:r>
              <a:rPr lang="en-GB" dirty="0"/>
              <a:t>Yes, I have expanded my knowledge on the inner workings of AI</a:t>
            </a:r>
          </a:p>
          <a:p>
            <a:r>
              <a:rPr lang="en-GB" dirty="0"/>
              <a:t>I have also expanded my knowledge on the wider effect AI has on society, the economy and governance</a:t>
            </a:r>
          </a:p>
          <a:p>
            <a:r>
              <a:rPr lang="en-GB" dirty="0"/>
              <a:t>Finally, I have learnt more about the processes of regulation</a:t>
            </a:r>
          </a:p>
        </p:txBody>
      </p:sp>
    </p:spTree>
    <p:extLst>
      <p:ext uri="{BB962C8B-B14F-4D97-AF65-F5344CB8AC3E}">
        <p14:creationId xmlns:p14="http://schemas.microsoft.com/office/powerpoint/2010/main" val="647106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AA9F5-17F8-E6A0-C132-CEAFF51AE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What I have learnt during my epq: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985D4-9274-80BB-0117-45D306092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Time management: modifying the time frame when required</a:t>
            </a:r>
          </a:p>
          <a:p>
            <a:r>
              <a:rPr lang="en-GB" dirty="0"/>
              <a:t>Research skills: evaluation of sources</a:t>
            </a:r>
          </a:p>
          <a:p>
            <a:r>
              <a:rPr lang="en-GB" dirty="0"/>
              <a:t>Analysis skills: comparison of sources and research</a:t>
            </a:r>
          </a:p>
        </p:txBody>
      </p:sp>
    </p:spTree>
    <p:extLst>
      <p:ext uri="{BB962C8B-B14F-4D97-AF65-F5344CB8AC3E}">
        <p14:creationId xmlns:p14="http://schemas.microsoft.com/office/powerpoint/2010/main" val="435842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FA451-2C11-0DA6-1AA3-F2638741F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What I would do differently next time: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BDC391E-9C0B-40C6-22D7-E0B5150C6A2B}"/>
              </a:ext>
            </a:extLst>
          </p:cNvPr>
          <p:cNvSpPr txBox="1">
            <a:spLocks/>
          </p:cNvSpPr>
          <p:nvPr/>
        </p:nvSpPr>
        <p:spPr>
          <a:xfrm>
            <a:off x="1141412" y="1658143"/>
            <a:ext cx="9905999" cy="2041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Build a clearer picture of the structure of the project from the start</a:t>
            </a:r>
          </a:p>
          <a:p>
            <a:r>
              <a:rPr lang="en-GB" dirty="0"/>
              <a:t>Create a more detailed plan and research from the beginning of the project</a:t>
            </a:r>
          </a:p>
          <a:p>
            <a:r>
              <a:rPr lang="en-GB" dirty="0"/>
              <a:t>Populate my Gantt chart with more achievement milestones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D8015E-ACF0-51B4-C59F-DFBCB12CEA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2" t="7544" b="3653"/>
          <a:stretch/>
        </p:blipFill>
        <p:spPr>
          <a:xfrm>
            <a:off x="1460405" y="3621410"/>
            <a:ext cx="9268011" cy="2976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98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AE161-D069-4E33-0BF4-976F923F5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How does this EPQ impact my future: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A2F8D-035B-053C-722F-A207EBDA1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Knowledge of AI terminology will be key to studying Computer Science at University</a:t>
            </a:r>
          </a:p>
          <a:p>
            <a:r>
              <a:rPr lang="en-GB" dirty="0"/>
              <a:t>A greater interest in the regulatory journey of AI has inspired me to keep up to date with laws directly relevant to my career journey</a:t>
            </a:r>
          </a:p>
          <a:p>
            <a:r>
              <a:rPr lang="en-GB" dirty="0"/>
              <a:t>Evidence to show my passion for AI and the effect it has on society</a:t>
            </a:r>
          </a:p>
        </p:txBody>
      </p:sp>
    </p:spTree>
    <p:extLst>
      <p:ext uri="{BB962C8B-B14F-4D97-AF65-F5344CB8AC3E}">
        <p14:creationId xmlns:p14="http://schemas.microsoft.com/office/powerpoint/2010/main" val="4224812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AD34C-4077-EC67-133C-889E7C293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365280233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7914</TotalTime>
  <Words>563</Words>
  <Application>Microsoft Office PowerPoint</Application>
  <PresentationFormat>Widescreen</PresentationFormat>
  <Paragraphs>64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Tw Cen MT</vt:lpstr>
      <vt:lpstr>Circuit</vt:lpstr>
      <vt:lpstr> extended project qualification:  Artificial Intelligence, the ethical challenges that it presents and how Governments have and should approach its regulation?</vt:lpstr>
      <vt:lpstr>What I will cover:</vt:lpstr>
      <vt:lpstr>Aims and objectives:</vt:lpstr>
      <vt:lpstr>Why I chose this subject:</vt:lpstr>
      <vt:lpstr>My question:</vt:lpstr>
      <vt:lpstr>Key areas covered and their sources:</vt:lpstr>
      <vt:lpstr>Conclusion:</vt:lpstr>
      <vt:lpstr>Did I fulfil my aim?</vt:lpstr>
      <vt:lpstr>What I have learnt during my epq:</vt:lpstr>
      <vt:lpstr>What I would do differently next time:</vt:lpstr>
      <vt:lpstr>How does this EPQ impact my future:</vt:lpstr>
      <vt:lpstr>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Henry McMahon</dc:creator>
  <cp:lastModifiedBy>Henry McMahon</cp:lastModifiedBy>
  <cp:revision>24</cp:revision>
  <dcterms:created xsi:type="dcterms:W3CDTF">2024-08-21T13:09:50Z</dcterms:created>
  <dcterms:modified xsi:type="dcterms:W3CDTF">2024-09-19T13:05:54Z</dcterms:modified>
</cp:coreProperties>
</file>